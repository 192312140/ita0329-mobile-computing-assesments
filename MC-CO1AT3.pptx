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8B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6473952"/>
            <a:ext cx="11155680" cy="13716"/>
          </a:xfrm>
          <a:prstGeom prst="rect">
            <a:avLst/>
          </a:prstGeom>
          <a:solidFill>
            <a:srgbClr val="D3DE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85800" y="751184"/>
            <a:ext cx="10835640" cy="5349240"/>
          </a:xfrm>
          <a:prstGeom prst="roundRect">
            <a:avLst/>
          </a:prstGeom>
          <a:solidFill>
            <a:srgbClr val="0E2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143000" y="1417320"/>
            <a:ext cx="109728" cy="1920240"/>
          </a:xfrm>
          <a:prstGeom prst="rect">
            <a:avLst/>
          </a:prstGeom>
          <a:solidFill>
            <a:srgbClr val="38B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508760" y="1417320"/>
            <a:ext cx="932688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3400" b="1">
                <a:solidFill>
                  <a:srgbClr val="FFFFFF"/>
                </a:solidFill>
                <a:latin typeface="Aptos Display"/>
              </a:defRPr>
            </a:pPr>
            <a:r>
              <a:t>Access Channels in Mobile Communication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36192" y="3108960"/>
            <a:ext cx="6518964" cy="114903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DCE8F7"/>
                </a:solidFill>
                <a:latin typeface="Aptos"/>
              </a:defRPr>
            </a:pPr>
            <a:r>
              <a:rPr dirty="0"/>
              <a:t>Subject: Mobile Com</a:t>
            </a:r>
            <a:r>
              <a:rPr lang="en-IN" dirty="0" err="1"/>
              <a:t>puting</a:t>
            </a:r>
            <a:r>
              <a:rPr lang="en-IN" dirty="0"/>
              <a:t>(ITA0329)</a:t>
            </a:r>
            <a:endParaRPr dirty="0"/>
          </a:p>
          <a:p>
            <a:pPr>
              <a:spcAft>
                <a:spcPts val="1000"/>
              </a:spcAft>
              <a:defRPr sz="1800">
                <a:solidFill>
                  <a:srgbClr val="DCE8F7"/>
                </a:solidFill>
                <a:latin typeface="Aptos"/>
              </a:defRPr>
            </a:pPr>
            <a:r>
              <a:rPr dirty="0"/>
              <a:t>Department: Electronics and Communication Engineering (ECE)</a:t>
            </a:r>
          </a:p>
          <a:p>
            <a:pPr>
              <a:spcAft>
                <a:spcPts val="1000"/>
              </a:spcAft>
              <a:defRPr sz="1600">
                <a:solidFill>
                  <a:srgbClr val="DCE8F7"/>
                </a:solidFill>
                <a:latin typeface="Aptos"/>
              </a:defRPr>
            </a:pPr>
            <a:r>
              <a:rPr dirty="0"/>
              <a:t>Presented by: </a:t>
            </a:r>
            <a:r>
              <a:rPr lang="en-IN" dirty="0" err="1"/>
              <a:t>Sadda</a:t>
            </a:r>
            <a:r>
              <a:rPr lang="en-IN" dirty="0"/>
              <a:t> Rajeswari</a:t>
            </a:r>
            <a:endParaRPr dirty="0"/>
          </a:p>
        </p:txBody>
      </p:sp>
      <p:sp>
        <p:nvSpPr>
          <p:cNvPr id="8" name="Oval 7"/>
          <p:cNvSpPr/>
          <p:nvPr/>
        </p:nvSpPr>
        <p:spPr>
          <a:xfrm>
            <a:off x="9875520" y="1097280"/>
            <a:ext cx="347472" cy="347472"/>
          </a:xfrm>
          <a:prstGeom prst="ellipse">
            <a:avLst/>
          </a:prstGeom>
          <a:solidFill>
            <a:srgbClr val="38B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469880" y="1645920"/>
            <a:ext cx="201168" cy="201168"/>
          </a:xfrm>
          <a:prstGeom prst="ellipse">
            <a:avLst/>
          </a:prstGeom>
          <a:solidFill>
            <a:srgbClr val="23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9966960" y="2057400"/>
            <a:ext cx="146304" cy="14630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8B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6473952"/>
            <a:ext cx="11155680" cy="13716"/>
          </a:xfrm>
          <a:prstGeom prst="rect">
            <a:avLst/>
          </a:prstGeom>
          <a:solidFill>
            <a:srgbClr val="D3DE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0927080" y="384048"/>
            <a:ext cx="685800" cy="384048"/>
          </a:xfrm>
          <a:prstGeom prst="roundRect">
            <a:avLst/>
          </a:prstGeom>
          <a:solidFill>
            <a:srgbClr val="23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02920"/>
            <a:ext cx="99669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E2042"/>
                </a:solidFill>
                <a:latin typeface="Aptos Display"/>
              </a:defRPr>
            </a:pPr>
            <a:r>
              <a:t>Introduction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371600"/>
            <a:ext cx="914400" cy="50292"/>
          </a:xfrm>
          <a:prstGeom prst="rect">
            <a:avLst/>
          </a:prstGeom>
          <a:solidFill>
            <a:srgbClr val="38B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85800" y="1691640"/>
            <a:ext cx="1083564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1560" y="1965960"/>
            <a:ext cx="10058400" cy="2499402"/>
          </a:xfrm>
          <a:prstGeom prst="rect">
            <a:avLst/>
          </a:prstGeom>
          <a:noFill/>
        </p:spPr>
        <p:txBody>
          <a:bodyPr wrap="square" lIns="73152" tIns="73152" rIns="73152">
            <a:spAutoFit/>
          </a:bodyPr>
          <a:lstStyle/>
          <a:p>
            <a:pPr marL="342900" indent="-342900">
              <a:lnSpc>
                <a:spcPct val="150000"/>
              </a:lnSpc>
              <a:spcAft>
                <a:spcPts val="1500"/>
              </a:spcAft>
              <a:buFont typeface="Arial" panose="020B0604020202020204" pitchFamily="34" charset="0"/>
              <a:buChar char="•"/>
              <a:defRPr sz="2000" b="0">
                <a:solidFill>
                  <a:srgbClr val="233044"/>
                </a:solidFill>
                <a:latin typeface="Aptos"/>
              </a:defRPr>
            </a:pPr>
            <a:r>
              <a:rPr dirty="0"/>
              <a:t>Access channels enable communication between mobile devices and base stations.</a:t>
            </a:r>
          </a:p>
          <a:p>
            <a:pPr marL="342900" indent="-342900">
              <a:lnSpc>
                <a:spcPct val="150000"/>
              </a:lnSpc>
              <a:spcAft>
                <a:spcPts val="1500"/>
              </a:spcAft>
              <a:buFont typeface="Arial" panose="020B0604020202020204" pitchFamily="34" charset="0"/>
              <a:buChar char="•"/>
              <a:defRPr sz="2000" b="0">
                <a:solidFill>
                  <a:srgbClr val="233044"/>
                </a:solidFill>
                <a:latin typeface="Aptos"/>
              </a:defRPr>
            </a:pPr>
            <a:r>
              <a:rPr dirty="0"/>
              <a:t>They help users make calls, send messages, and access data services.</a:t>
            </a:r>
          </a:p>
          <a:p>
            <a:pPr marL="342900" indent="-342900">
              <a:lnSpc>
                <a:spcPct val="150000"/>
              </a:lnSpc>
              <a:spcAft>
                <a:spcPts val="1500"/>
              </a:spcAft>
              <a:buFont typeface="Arial" panose="020B0604020202020204" pitchFamily="34" charset="0"/>
              <a:buChar char="•"/>
              <a:defRPr sz="2000" b="0">
                <a:solidFill>
                  <a:srgbClr val="233044"/>
                </a:solidFill>
                <a:latin typeface="Aptos"/>
              </a:defRPr>
            </a:pPr>
            <a:r>
              <a:rPr dirty="0"/>
              <a:t>They manage network access and exchange control information.</a:t>
            </a:r>
          </a:p>
          <a:p>
            <a:pPr marL="342900" indent="-342900">
              <a:lnSpc>
                <a:spcPct val="150000"/>
              </a:lnSpc>
              <a:spcAft>
                <a:spcPts val="1500"/>
              </a:spcAft>
              <a:buFont typeface="Arial" panose="020B0604020202020204" pitchFamily="34" charset="0"/>
              <a:buChar char="•"/>
              <a:defRPr sz="2000" b="0">
                <a:solidFill>
                  <a:srgbClr val="233044"/>
                </a:solidFill>
                <a:latin typeface="Aptos"/>
              </a:defRPr>
            </a:pPr>
            <a:r>
              <a:rPr dirty="0"/>
              <a:t>They are essential for reliable and efficient mobile communication.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510528"/>
            <a:ext cx="9601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6B82"/>
                </a:solidFill>
                <a:latin typeface="Aptos"/>
              </a:defRPr>
            </a:pPr>
            <a:r>
              <a:t>ACCESS CHANNELS IN MOBILE COMMUNICATION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8B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6473952"/>
            <a:ext cx="11155680" cy="13716"/>
          </a:xfrm>
          <a:prstGeom prst="rect">
            <a:avLst/>
          </a:prstGeom>
          <a:solidFill>
            <a:srgbClr val="D3DE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0927080" y="384048"/>
            <a:ext cx="685800" cy="384048"/>
          </a:xfrm>
          <a:prstGeom prst="roundRect">
            <a:avLst/>
          </a:prstGeom>
          <a:solidFill>
            <a:srgbClr val="23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02920"/>
            <a:ext cx="99669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E2042"/>
                </a:solidFill>
                <a:latin typeface="Aptos Display"/>
              </a:defRPr>
            </a:pPr>
            <a:r>
              <a:t>Meaning of Access Channels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371600"/>
            <a:ext cx="914400" cy="50292"/>
          </a:xfrm>
          <a:prstGeom prst="rect">
            <a:avLst/>
          </a:prstGeom>
          <a:solidFill>
            <a:srgbClr val="38B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85800" y="1691640"/>
            <a:ext cx="1083564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1560" y="1965960"/>
            <a:ext cx="10058400" cy="2961067"/>
          </a:xfrm>
          <a:prstGeom prst="rect">
            <a:avLst/>
          </a:prstGeom>
          <a:noFill/>
        </p:spPr>
        <p:txBody>
          <a:bodyPr wrap="square" lIns="73152" tIns="73152" rIns="73152">
            <a:spAutoFit/>
          </a:bodyPr>
          <a:lstStyle/>
          <a:p>
            <a:pPr marL="342900" indent="-342900">
              <a:lnSpc>
                <a:spcPct val="150000"/>
              </a:lnSpc>
              <a:spcAft>
                <a:spcPts val="1500"/>
              </a:spcAft>
              <a:buFont typeface="Arial" panose="020B0604020202020204" pitchFamily="34" charset="0"/>
              <a:buChar char="•"/>
              <a:defRPr sz="2000" b="0">
                <a:solidFill>
                  <a:srgbClr val="233044"/>
                </a:solidFill>
                <a:latin typeface="Aptos"/>
              </a:defRPr>
            </a:pPr>
            <a:r>
              <a:rPr dirty="0"/>
              <a:t>Access channels are radio resources used by mobile devices to connect with a cellular network.</a:t>
            </a:r>
          </a:p>
          <a:p>
            <a:pPr marL="342900" indent="-342900">
              <a:lnSpc>
                <a:spcPct val="150000"/>
              </a:lnSpc>
              <a:spcAft>
                <a:spcPts val="1500"/>
              </a:spcAft>
              <a:buFont typeface="Arial" panose="020B0604020202020204" pitchFamily="34" charset="0"/>
              <a:buChar char="•"/>
              <a:defRPr sz="2000" b="0">
                <a:solidFill>
                  <a:srgbClr val="233044"/>
                </a:solidFill>
                <a:latin typeface="Aptos"/>
              </a:defRPr>
            </a:pPr>
            <a:r>
              <a:rPr dirty="0"/>
              <a:t>They help establish, maintain, and manage communication links.</a:t>
            </a:r>
          </a:p>
          <a:p>
            <a:pPr marL="342900" indent="-342900">
              <a:lnSpc>
                <a:spcPct val="150000"/>
              </a:lnSpc>
              <a:spcAft>
                <a:spcPts val="1500"/>
              </a:spcAft>
              <a:buFont typeface="Arial" panose="020B0604020202020204" pitchFamily="34" charset="0"/>
              <a:buChar char="•"/>
              <a:defRPr sz="2000" b="0">
                <a:solidFill>
                  <a:srgbClr val="233044"/>
                </a:solidFill>
                <a:latin typeface="Aptos"/>
              </a:defRPr>
            </a:pPr>
            <a:r>
              <a:rPr dirty="0"/>
              <a:t>They carry access requests, network information, and control signals.</a:t>
            </a:r>
          </a:p>
          <a:p>
            <a:pPr marL="342900" indent="-342900">
              <a:lnSpc>
                <a:spcPct val="150000"/>
              </a:lnSpc>
              <a:spcAft>
                <a:spcPts val="1500"/>
              </a:spcAft>
              <a:buFont typeface="Arial" panose="020B0604020202020204" pitchFamily="34" charset="0"/>
              <a:buChar char="•"/>
              <a:defRPr sz="2000" b="0">
                <a:solidFill>
                  <a:srgbClr val="233044"/>
                </a:solidFill>
                <a:latin typeface="Aptos"/>
              </a:defRPr>
            </a:pPr>
            <a:r>
              <a:rPr dirty="0"/>
              <a:t>Their functions vary across technologies such as GSM, LTE, and 5G.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510528"/>
            <a:ext cx="9601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6B82"/>
                </a:solidFill>
                <a:latin typeface="Aptos"/>
              </a:defRPr>
            </a:pPr>
            <a:r>
              <a:t>ACCESS CHANNELS IN MOBILE COMMUNICATION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8B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6473952"/>
            <a:ext cx="11155680" cy="13716"/>
          </a:xfrm>
          <a:prstGeom prst="rect">
            <a:avLst/>
          </a:prstGeom>
          <a:solidFill>
            <a:srgbClr val="D3DE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0927080" y="384048"/>
            <a:ext cx="685800" cy="384048"/>
          </a:xfrm>
          <a:prstGeom prst="roundRect">
            <a:avLst/>
          </a:prstGeom>
          <a:solidFill>
            <a:srgbClr val="23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02920"/>
            <a:ext cx="99669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E2042"/>
                </a:solidFill>
                <a:latin typeface="Aptos Display"/>
              </a:defRPr>
            </a:pPr>
            <a:r>
              <a:t>Types of Access and Control Channels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371600"/>
            <a:ext cx="914400" cy="50292"/>
          </a:xfrm>
          <a:prstGeom prst="rect">
            <a:avLst/>
          </a:prstGeom>
          <a:solidFill>
            <a:srgbClr val="38B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85800" y="1691640"/>
            <a:ext cx="1083564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1560" y="1965960"/>
            <a:ext cx="10058400" cy="4076757"/>
          </a:xfrm>
          <a:prstGeom prst="rect">
            <a:avLst/>
          </a:prstGeom>
          <a:noFill/>
        </p:spPr>
        <p:txBody>
          <a:bodyPr wrap="square" lIns="73152" tIns="73152" rIns="73152">
            <a:spAutoFit/>
          </a:bodyPr>
          <a:lstStyle/>
          <a:p>
            <a:pPr marL="342900" indent="-342900">
              <a:lnSpc>
                <a:spcPct val="150000"/>
              </a:lnSpc>
              <a:spcAft>
                <a:spcPts val="1500"/>
              </a:spcAft>
              <a:buFont typeface="Arial" panose="020B0604020202020204" pitchFamily="34" charset="0"/>
              <a:buChar char="•"/>
              <a:defRPr sz="2000" b="0">
                <a:solidFill>
                  <a:srgbClr val="233044"/>
                </a:solidFill>
                <a:latin typeface="Aptos"/>
              </a:defRPr>
            </a:pPr>
            <a:r>
              <a:rPr dirty="0"/>
              <a:t>Random Access Channel (RACH): lets a device request network access.</a:t>
            </a:r>
          </a:p>
          <a:p>
            <a:pPr marL="342900" indent="-342900">
              <a:lnSpc>
                <a:spcPct val="150000"/>
              </a:lnSpc>
              <a:spcAft>
                <a:spcPts val="1500"/>
              </a:spcAft>
              <a:buFont typeface="Arial" panose="020B0604020202020204" pitchFamily="34" charset="0"/>
              <a:buChar char="•"/>
              <a:defRPr sz="2000" b="0">
                <a:solidFill>
                  <a:srgbClr val="233044"/>
                </a:solidFill>
                <a:latin typeface="Aptos"/>
              </a:defRPr>
            </a:pPr>
            <a:r>
              <a:rPr dirty="0"/>
              <a:t>Access Grant Channel (AGCH): provides access instructions or resource assignments in GSM.</a:t>
            </a:r>
          </a:p>
          <a:p>
            <a:pPr marL="342900" indent="-342900">
              <a:lnSpc>
                <a:spcPct val="150000"/>
              </a:lnSpc>
              <a:spcAft>
                <a:spcPts val="1500"/>
              </a:spcAft>
              <a:buFont typeface="Arial" panose="020B0604020202020204" pitchFamily="34" charset="0"/>
              <a:buChar char="•"/>
              <a:defRPr sz="2000" b="0">
                <a:solidFill>
                  <a:srgbClr val="233044"/>
                </a:solidFill>
                <a:latin typeface="Aptos"/>
              </a:defRPr>
            </a:pPr>
            <a:r>
              <a:rPr dirty="0"/>
              <a:t>Paging Channel (PCH): alerts idle devices about incoming calls or services.</a:t>
            </a:r>
          </a:p>
          <a:p>
            <a:pPr marL="342900" indent="-342900">
              <a:lnSpc>
                <a:spcPct val="150000"/>
              </a:lnSpc>
              <a:spcAft>
                <a:spcPts val="1500"/>
              </a:spcAft>
              <a:buFont typeface="Arial" panose="020B0604020202020204" pitchFamily="34" charset="0"/>
              <a:buChar char="•"/>
              <a:defRPr sz="2000" b="0">
                <a:solidFill>
                  <a:srgbClr val="233044"/>
                </a:solidFill>
                <a:latin typeface="Aptos"/>
              </a:defRPr>
            </a:pPr>
            <a:r>
              <a:rPr dirty="0"/>
              <a:t>Broadcast Control Channel (BCCH): broadcasts cell and system information in GSM.</a:t>
            </a:r>
          </a:p>
          <a:p>
            <a:pPr marL="342900" indent="-342900">
              <a:lnSpc>
                <a:spcPct val="150000"/>
              </a:lnSpc>
              <a:spcAft>
                <a:spcPts val="1500"/>
              </a:spcAft>
              <a:buFont typeface="Arial" panose="020B0604020202020204" pitchFamily="34" charset="0"/>
              <a:buChar char="•"/>
              <a:defRPr sz="2000" b="0">
                <a:solidFill>
                  <a:srgbClr val="233044"/>
                </a:solidFill>
                <a:latin typeface="Aptos"/>
              </a:defRPr>
            </a:pPr>
            <a:r>
              <a:rPr dirty="0"/>
              <a:t>Dedicated Control Channel (DCCH): carries control information for a specific connection.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510528"/>
            <a:ext cx="9601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6B82"/>
                </a:solidFill>
                <a:latin typeface="Aptos"/>
              </a:defRPr>
            </a:pPr>
            <a:r>
              <a:t>ACCESS CHANNELS IN MOBILE COMMUNICATION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8B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6473952"/>
            <a:ext cx="11155680" cy="13716"/>
          </a:xfrm>
          <a:prstGeom prst="rect">
            <a:avLst/>
          </a:prstGeom>
          <a:solidFill>
            <a:srgbClr val="D3DE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0927080" y="384048"/>
            <a:ext cx="685800" cy="384048"/>
          </a:xfrm>
          <a:prstGeom prst="roundRect">
            <a:avLst/>
          </a:prstGeom>
          <a:solidFill>
            <a:srgbClr val="23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02920"/>
            <a:ext cx="99669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E2042"/>
                </a:solidFill>
                <a:latin typeface="Aptos Display"/>
              </a:defRPr>
            </a:pPr>
            <a:r>
              <a:t>Random Access Channel (RACH)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371600"/>
            <a:ext cx="914400" cy="50292"/>
          </a:xfrm>
          <a:prstGeom prst="rect">
            <a:avLst/>
          </a:prstGeom>
          <a:solidFill>
            <a:srgbClr val="38B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85800" y="1691640"/>
            <a:ext cx="1083564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1560" y="1965960"/>
            <a:ext cx="10058400" cy="3153427"/>
          </a:xfrm>
          <a:prstGeom prst="rect">
            <a:avLst/>
          </a:prstGeom>
          <a:noFill/>
        </p:spPr>
        <p:txBody>
          <a:bodyPr wrap="square" lIns="73152" tIns="73152" rIns="73152">
            <a:spAutoFit/>
          </a:bodyPr>
          <a:lstStyle/>
          <a:p>
            <a:pPr marL="342900" indent="-342900">
              <a:lnSpc>
                <a:spcPct val="150000"/>
              </a:lnSpc>
              <a:spcAft>
                <a:spcPts val="1500"/>
              </a:spcAft>
              <a:buFont typeface="Arial" panose="020B0604020202020204" pitchFamily="34" charset="0"/>
              <a:buChar char="•"/>
              <a:defRPr sz="2000" b="0">
                <a:solidFill>
                  <a:srgbClr val="233044"/>
                </a:solidFill>
                <a:latin typeface="Aptos"/>
              </a:defRPr>
            </a:pPr>
            <a:r>
              <a:rPr dirty="0"/>
              <a:t>Used when a mobile device needs to initiate access to the network.</a:t>
            </a:r>
          </a:p>
          <a:p>
            <a:pPr marL="342900" indent="-342900">
              <a:lnSpc>
                <a:spcPct val="150000"/>
              </a:lnSpc>
              <a:spcAft>
                <a:spcPts val="1500"/>
              </a:spcAft>
              <a:buFont typeface="Arial" panose="020B0604020202020204" pitchFamily="34" charset="0"/>
              <a:buChar char="•"/>
              <a:defRPr sz="2000" b="0">
                <a:solidFill>
                  <a:srgbClr val="233044"/>
                </a:solidFill>
                <a:latin typeface="Aptos"/>
              </a:defRPr>
            </a:pPr>
            <a:r>
              <a:rPr dirty="0"/>
              <a:t>The device sends an access request to the base station.</a:t>
            </a:r>
          </a:p>
          <a:p>
            <a:pPr marL="342900" indent="-342900">
              <a:lnSpc>
                <a:spcPct val="150000"/>
              </a:lnSpc>
              <a:spcAft>
                <a:spcPts val="1500"/>
              </a:spcAft>
              <a:buFont typeface="Arial" panose="020B0604020202020204" pitchFamily="34" charset="0"/>
              <a:buChar char="•"/>
              <a:defRPr sz="2000" b="0">
                <a:solidFill>
                  <a:srgbClr val="233044"/>
                </a:solidFill>
                <a:latin typeface="Aptos"/>
              </a:defRPr>
            </a:pPr>
            <a:r>
              <a:rPr dirty="0"/>
              <a:t>It is used during procedures such as connection establishment.</a:t>
            </a:r>
          </a:p>
          <a:p>
            <a:pPr marL="342900" indent="-342900">
              <a:lnSpc>
                <a:spcPct val="150000"/>
              </a:lnSpc>
              <a:spcAft>
                <a:spcPts val="1500"/>
              </a:spcAft>
              <a:buFont typeface="Arial" panose="020B0604020202020204" pitchFamily="34" charset="0"/>
              <a:buChar char="•"/>
              <a:defRPr sz="2000" b="0">
                <a:solidFill>
                  <a:srgbClr val="233044"/>
                </a:solidFill>
                <a:latin typeface="Aptos"/>
              </a:defRPr>
            </a:pPr>
            <a:r>
              <a:rPr dirty="0"/>
              <a:t>Several devices may try to access the network at the same time.</a:t>
            </a:r>
          </a:p>
          <a:p>
            <a:pPr marL="342900" indent="-342900">
              <a:lnSpc>
                <a:spcPct val="150000"/>
              </a:lnSpc>
              <a:spcAft>
                <a:spcPts val="1500"/>
              </a:spcAft>
              <a:buFont typeface="Arial" panose="020B0604020202020204" pitchFamily="34" charset="0"/>
              <a:buChar char="•"/>
              <a:defRPr sz="2000" b="0">
                <a:solidFill>
                  <a:srgbClr val="233044"/>
                </a:solidFill>
                <a:latin typeface="Aptos"/>
              </a:defRPr>
            </a:pPr>
            <a:r>
              <a:rPr dirty="0"/>
              <a:t>Random backoff and retry procedures help resolve access collisions.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510528"/>
            <a:ext cx="9601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6B82"/>
                </a:solidFill>
                <a:latin typeface="Aptos"/>
              </a:defRPr>
            </a:pPr>
            <a:r>
              <a:t>ACCESS CHANNELS IN MOBILE COMMUNICATION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8B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6473952"/>
            <a:ext cx="11155680" cy="13716"/>
          </a:xfrm>
          <a:prstGeom prst="rect">
            <a:avLst/>
          </a:prstGeom>
          <a:solidFill>
            <a:srgbClr val="D3DE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0927080" y="384048"/>
            <a:ext cx="685800" cy="384048"/>
          </a:xfrm>
          <a:prstGeom prst="roundRect">
            <a:avLst/>
          </a:prstGeom>
          <a:solidFill>
            <a:srgbClr val="23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02920"/>
            <a:ext cx="99669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E2042"/>
                </a:solidFill>
                <a:latin typeface="Aptos Display"/>
              </a:defRPr>
            </a:pPr>
            <a:r>
              <a:t>Access Grant and Paging Channels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371600"/>
            <a:ext cx="914400" cy="50292"/>
          </a:xfrm>
          <a:prstGeom prst="rect">
            <a:avLst/>
          </a:prstGeom>
          <a:solidFill>
            <a:srgbClr val="38B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85800" y="1691640"/>
            <a:ext cx="1083564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1560" y="1965960"/>
            <a:ext cx="10058400" cy="3013902"/>
          </a:xfrm>
          <a:prstGeom prst="rect">
            <a:avLst/>
          </a:prstGeom>
          <a:noFill/>
        </p:spPr>
        <p:txBody>
          <a:bodyPr wrap="square" lIns="73152" tIns="73152" rIns="73152">
            <a:spAutoFit/>
          </a:bodyPr>
          <a:lstStyle/>
          <a:p>
            <a:pPr>
              <a:lnSpc>
                <a:spcPct val="150000"/>
              </a:lnSpc>
              <a:spcAft>
                <a:spcPts val="900"/>
              </a:spcAft>
              <a:defRPr sz="1700" b="1">
                <a:solidFill>
                  <a:srgbClr val="2369BE"/>
                </a:solidFill>
                <a:latin typeface="Aptos"/>
              </a:defRPr>
            </a:pPr>
            <a:r>
              <a:rPr dirty="0"/>
              <a:t>Access Grant Channel (AGCH):</a:t>
            </a:r>
          </a:p>
          <a:p>
            <a:pPr>
              <a:lnSpc>
                <a:spcPct val="150000"/>
              </a:lnSpc>
              <a:spcAft>
                <a:spcPts val="900"/>
              </a:spcAft>
              <a:defRPr sz="1700" b="0">
                <a:solidFill>
                  <a:srgbClr val="233044"/>
                </a:solidFill>
                <a:latin typeface="Aptos"/>
              </a:defRPr>
            </a:pPr>
            <a:r>
              <a:rPr dirty="0"/>
              <a:t>• Responds to access requests and provides instructions for using network resources.</a:t>
            </a:r>
          </a:p>
          <a:p>
            <a:pPr>
              <a:lnSpc>
                <a:spcPct val="150000"/>
              </a:lnSpc>
              <a:spcAft>
                <a:spcPts val="900"/>
              </a:spcAft>
              <a:defRPr sz="1700" b="0">
                <a:solidFill>
                  <a:srgbClr val="233044"/>
                </a:solidFill>
                <a:latin typeface="Aptos"/>
              </a:defRPr>
            </a:pPr>
            <a:r>
              <a:rPr dirty="0"/>
              <a:t>• Helps the device continue the connection-establishment process.</a:t>
            </a:r>
          </a:p>
          <a:p>
            <a:pPr>
              <a:lnSpc>
                <a:spcPct val="150000"/>
              </a:lnSpc>
              <a:spcAft>
                <a:spcPts val="900"/>
              </a:spcAft>
              <a:defRPr sz="1700" b="1">
                <a:solidFill>
                  <a:srgbClr val="2369BE"/>
                </a:solidFill>
                <a:latin typeface="Aptos"/>
              </a:defRPr>
            </a:pPr>
            <a:r>
              <a:rPr dirty="0"/>
              <a:t>Paging Channel (PCH):</a:t>
            </a:r>
          </a:p>
          <a:p>
            <a:pPr>
              <a:lnSpc>
                <a:spcPct val="150000"/>
              </a:lnSpc>
              <a:spcAft>
                <a:spcPts val="900"/>
              </a:spcAft>
              <a:defRPr sz="1700" b="0">
                <a:solidFill>
                  <a:srgbClr val="233044"/>
                </a:solidFill>
                <a:latin typeface="Aptos"/>
              </a:defRPr>
            </a:pPr>
            <a:r>
              <a:rPr dirty="0"/>
              <a:t>• Notifies an idle device about incoming calls or services.</a:t>
            </a:r>
          </a:p>
          <a:p>
            <a:pPr>
              <a:lnSpc>
                <a:spcPct val="150000"/>
              </a:lnSpc>
              <a:spcAft>
                <a:spcPts val="900"/>
              </a:spcAft>
              <a:defRPr sz="1700" b="0">
                <a:solidFill>
                  <a:srgbClr val="233044"/>
                </a:solidFill>
                <a:latin typeface="Aptos"/>
              </a:defRPr>
            </a:pPr>
            <a:r>
              <a:rPr dirty="0"/>
              <a:t>• Allows the network to reach devices without keeping their radios continuously active.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510528"/>
            <a:ext cx="9601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6B82"/>
                </a:solidFill>
                <a:latin typeface="Aptos"/>
              </a:defRPr>
            </a:pPr>
            <a:r>
              <a:t>ACCESS CHANNELS IN MOBILE COMMUNICATION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8B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6473952"/>
            <a:ext cx="11155680" cy="13716"/>
          </a:xfrm>
          <a:prstGeom prst="rect">
            <a:avLst/>
          </a:prstGeom>
          <a:solidFill>
            <a:srgbClr val="D3DE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0927080" y="384048"/>
            <a:ext cx="685800" cy="384048"/>
          </a:xfrm>
          <a:prstGeom prst="roundRect">
            <a:avLst/>
          </a:prstGeom>
          <a:solidFill>
            <a:srgbClr val="23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02920"/>
            <a:ext cx="99669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E2042"/>
                </a:solidFill>
                <a:latin typeface="Aptos Display"/>
              </a:defRPr>
            </a:pPr>
            <a:r>
              <a:t>Broadcast and Dedicated Control Channels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371600"/>
            <a:ext cx="914400" cy="50292"/>
          </a:xfrm>
          <a:prstGeom prst="rect">
            <a:avLst/>
          </a:prstGeom>
          <a:solidFill>
            <a:srgbClr val="38B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85800" y="1691640"/>
            <a:ext cx="1083564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1560" y="1965960"/>
            <a:ext cx="10058400" cy="3013902"/>
          </a:xfrm>
          <a:prstGeom prst="rect">
            <a:avLst/>
          </a:prstGeom>
          <a:noFill/>
        </p:spPr>
        <p:txBody>
          <a:bodyPr wrap="square" lIns="73152" tIns="73152" rIns="73152">
            <a:spAutoFit/>
          </a:bodyPr>
          <a:lstStyle/>
          <a:p>
            <a:pPr>
              <a:lnSpc>
                <a:spcPct val="150000"/>
              </a:lnSpc>
              <a:spcAft>
                <a:spcPts val="900"/>
              </a:spcAft>
              <a:defRPr sz="1700" b="1">
                <a:solidFill>
                  <a:srgbClr val="2369BE"/>
                </a:solidFill>
                <a:latin typeface="Aptos"/>
              </a:defRPr>
            </a:pPr>
            <a:r>
              <a:rPr dirty="0"/>
              <a:t>Broadcast Control Channel (BCCH):</a:t>
            </a:r>
          </a:p>
          <a:p>
            <a:pPr>
              <a:lnSpc>
                <a:spcPct val="150000"/>
              </a:lnSpc>
              <a:spcAft>
                <a:spcPts val="900"/>
              </a:spcAft>
              <a:defRPr sz="1700" b="0">
                <a:solidFill>
                  <a:srgbClr val="233044"/>
                </a:solidFill>
                <a:latin typeface="Aptos"/>
              </a:defRPr>
            </a:pPr>
            <a:r>
              <a:rPr dirty="0"/>
              <a:t>• Broadcasts cell identity and essential system information.</a:t>
            </a:r>
          </a:p>
          <a:p>
            <a:pPr>
              <a:lnSpc>
                <a:spcPct val="150000"/>
              </a:lnSpc>
              <a:spcAft>
                <a:spcPts val="900"/>
              </a:spcAft>
              <a:defRPr sz="1700" b="0">
                <a:solidFill>
                  <a:srgbClr val="233044"/>
                </a:solidFill>
                <a:latin typeface="Aptos"/>
              </a:defRPr>
            </a:pPr>
            <a:r>
              <a:rPr dirty="0"/>
              <a:t>• Helps mobile devices identify and select a suitable cell.</a:t>
            </a:r>
          </a:p>
          <a:p>
            <a:pPr>
              <a:lnSpc>
                <a:spcPct val="150000"/>
              </a:lnSpc>
              <a:spcAft>
                <a:spcPts val="900"/>
              </a:spcAft>
              <a:defRPr sz="1700" b="1">
                <a:solidFill>
                  <a:srgbClr val="2369BE"/>
                </a:solidFill>
                <a:latin typeface="Aptos"/>
              </a:defRPr>
            </a:pPr>
            <a:r>
              <a:rPr dirty="0"/>
              <a:t>Dedicated Control Channel (DCCH):</a:t>
            </a:r>
          </a:p>
          <a:p>
            <a:pPr>
              <a:lnSpc>
                <a:spcPct val="150000"/>
              </a:lnSpc>
              <a:spcAft>
                <a:spcPts val="900"/>
              </a:spcAft>
              <a:defRPr sz="1700" b="0">
                <a:solidFill>
                  <a:srgbClr val="233044"/>
                </a:solidFill>
                <a:latin typeface="Aptos"/>
              </a:defRPr>
            </a:pPr>
            <a:r>
              <a:rPr dirty="0"/>
              <a:t>• Carries control information for an individual connection.</a:t>
            </a:r>
          </a:p>
          <a:p>
            <a:pPr>
              <a:lnSpc>
                <a:spcPct val="150000"/>
              </a:lnSpc>
              <a:spcAft>
                <a:spcPts val="900"/>
              </a:spcAft>
              <a:defRPr sz="1700" b="0">
                <a:solidFill>
                  <a:srgbClr val="233044"/>
                </a:solidFill>
                <a:latin typeface="Aptos"/>
              </a:defRPr>
            </a:pPr>
            <a:r>
              <a:rPr dirty="0"/>
              <a:t>• Supports procedures such as connection management and mobility control.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510528"/>
            <a:ext cx="9601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6B82"/>
                </a:solidFill>
                <a:latin typeface="Aptos"/>
              </a:defRPr>
            </a:pPr>
            <a:r>
              <a:t>ACCESS CHANNELS IN MOBILE COMMUNICATION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8B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6473952"/>
            <a:ext cx="11155680" cy="13716"/>
          </a:xfrm>
          <a:prstGeom prst="rect">
            <a:avLst/>
          </a:prstGeom>
          <a:solidFill>
            <a:srgbClr val="D3DE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0927080" y="384048"/>
            <a:ext cx="685800" cy="384048"/>
          </a:xfrm>
          <a:prstGeom prst="roundRect">
            <a:avLst/>
          </a:prstGeom>
          <a:solidFill>
            <a:srgbClr val="23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02920"/>
            <a:ext cx="99669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E2042"/>
                </a:solidFill>
                <a:latin typeface="Aptos Display"/>
              </a:defRPr>
            </a:pPr>
            <a:r>
              <a:t>Working Process of Access Channels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371600"/>
            <a:ext cx="914400" cy="50292"/>
          </a:xfrm>
          <a:prstGeom prst="rect">
            <a:avLst/>
          </a:prstGeom>
          <a:solidFill>
            <a:srgbClr val="38B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85800" y="1691640"/>
            <a:ext cx="1083564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1560" y="1965960"/>
            <a:ext cx="10058400" cy="3153427"/>
          </a:xfrm>
          <a:prstGeom prst="rect">
            <a:avLst/>
          </a:prstGeom>
          <a:noFill/>
        </p:spPr>
        <p:txBody>
          <a:bodyPr wrap="square" lIns="73152" tIns="73152" rIns="73152">
            <a:spAutoFit/>
          </a:bodyPr>
          <a:lstStyle/>
          <a:p>
            <a:pPr>
              <a:lnSpc>
                <a:spcPct val="150000"/>
              </a:lnSpc>
              <a:spcAft>
                <a:spcPts val="1500"/>
              </a:spcAft>
              <a:defRPr sz="2000" b="0">
                <a:solidFill>
                  <a:srgbClr val="233044"/>
                </a:solidFill>
                <a:latin typeface="Aptos"/>
              </a:defRPr>
            </a:pPr>
            <a:r>
              <a:rPr dirty="0"/>
              <a:t>1. The mobile device searches for a suitable cell.</a:t>
            </a:r>
          </a:p>
          <a:p>
            <a:pPr>
              <a:lnSpc>
                <a:spcPct val="150000"/>
              </a:lnSpc>
              <a:spcAft>
                <a:spcPts val="1500"/>
              </a:spcAft>
              <a:defRPr sz="2000" b="0">
                <a:solidFill>
                  <a:srgbClr val="233044"/>
                </a:solidFill>
                <a:latin typeface="Aptos"/>
              </a:defRPr>
            </a:pPr>
            <a:r>
              <a:rPr dirty="0"/>
              <a:t>2. It reads broadcast information from the base station.</a:t>
            </a:r>
          </a:p>
          <a:p>
            <a:pPr>
              <a:lnSpc>
                <a:spcPct val="150000"/>
              </a:lnSpc>
              <a:spcAft>
                <a:spcPts val="1500"/>
              </a:spcAft>
              <a:defRPr sz="2000" b="0">
                <a:solidFill>
                  <a:srgbClr val="233044"/>
                </a:solidFill>
                <a:latin typeface="Aptos"/>
              </a:defRPr>
            </a:pPr>
            <a:r>
              <a:rPr dirty="0"/>
              <a:t>3. The device sends an access request using the applicable access procedure.</a:t>
            </a:r>
          </a:p>
          <a:p>
            <a:pPr>
              <a:lnSpc>
                <a:spcPct val="150000"/>
              </a:lnSpc>
              <a:spcAft>
                <a:spcPts val="1500"/>
              </a:spcAft>
              <a:defRPr sz="2000" b="0">
                <a:solidFill>
                  <a:srgbClr val="233044"/>
                </a:solidFill>
                <a:latin typeface="Aptos"/>
              </a:defRPr>
            </a:pPr>
            <a:r>
              <a:rPr dirty="0"/>
              <a:t>4. The network responds with instructions or assigns resources.</a:t>
            </a:r>
          </a:p>
          <a:p>
            <a:pPr>
              <a:lnSpc>
                <a:spcPct val="150000"/>
              </a:lnSpc>
              <a:spcAft>
                <a:spcPts val="1500"/>
              </a:spcAft>
              <a:defRPr sz="2000" b="0">
                <a:solidFill>
                  <a:srgbClr val="233044"/>
                </a:solidFill>
                <a:latin typeface="Aptos"/>
              </a:defRPr>
            </a:pPr>
            <a:r>
              <a:rPr dirty="0"/>
              <a:t>5. The connection is established and control/user information is exchanged.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510528"/>
            <a:ext cx="9601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6B82"/>
                </a:solidFill>
                <a:latin typeface="Aptos"/>
              </a:defRPr>
            </a:pPr>
            <a:r>
              <a:t>ACCESS CHANNELS IN MOBILE COMMUNICATION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8B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6473952"/>
            <a:ext cx="11155680" cy="13716"/>
          </a:xfrm>
          <a:prstGeom prst="rect">
            <a:avLst/>
          </a:prstGeom>
          <a:solidFill>
            <a:srgbClr val="D3DE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0927080" y="384048"/>
            <a:ext cx="685800" cy="384048"/>
          </a:xfrm>
          <a:prstGeom prst="roundRect">
            <a:avLst/>
          </a:prstGeom>
          <a:solidFill>
            <a:srgbClr val="23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02920"/>
            <a:ext cx="99669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E2042"/>
                </a:solidFill>
                <a:latin typeface="Aptos Display"/>
              </a:defRPr>
            </a:pPr>
            <a:r>
              <a:t>Advantages and Applications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371600"/>
            <a:ext cx="914400" cy="50292"/>
          </a:xfrm>
          <a:prstGeom prst="rect">
            <a:avLst/>
          </a:prstGeom>
          <a:solidFill>
            <a:srgbClr val="38B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85800" y="1691640"/>
            <a:ext cx="1083564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1560" y="1965960"/>
            <a:ext cx="10058400" cy="3013902"/>
          </a:xfrm>
          <a:prstGeom prst="rect">
            <a:avLst/>
          </a:prstGeom>
          <a:noFill/>
        </p:spPr>
        <p:txBody>
          <a:bodyPr wrap="square" lIns="73152" tIns="73152" rIns="73152">
            <a:spAutoFit/>
          </a:bodyPr>
          <a:lstStyle/>
          <a:p>
            <a:pPr>
              <a:lnSpc>
                <a:spcPct val="150000"/>
              </a:lnSpc>
              <a:spcAft>
                <a:spcPts val="900"/>
              </a:spcAft>
              <a:defRPr sz="1700" b="1">
                <a:solidFill>
                  <a:srgbClr val="2369BE"/>
                </a:solidFill>
                <a:latin typeface="Aptos"/>
              </a:defRPr>
            </a:pPr>
            <a:r>
              <a:rPr dirty="0"/>
              <a:t>Advantages</a:t>
            </a:r>
          </a:p>
          <a:p>
            <a:pPr>
              <a:lnSpc>
                <a:spcPct val="150000"/>
              </a:lnSpc>
              <a:spcAft>
                <a:spcPts val="900"/>
              </a:spcAft>
              <a:defRPr sz="1700" b="0">
                <a:solidFill>
                  <a:srgbClr val="233044"/>
                </a:solidFill>
                <a:latin typeface="Aptos"/>
              </a:defRPr>
            </a:pPr>
            <a:r>
              <a:rPr dirty="0"/>
              <a:t>• Supports many mobile users and efficient radio-resource use.</a:t>
            </a:r>
          </a:p>
          <a:p>
            <a:pPr>
              <a:lnSpc>
                <a:spcPct val="150000"/>
              </a:lnSpc>
              <a:spcAft>
                <a:spcPts val="900"/>
              </a:spcAft>
              <a:defRPr sz="1700" b="0">
                <a:solidFill>
                  <a:srgbClr val="233044"/>
                </a:solidFill>
                <a:latin typeface="Aptos"/>
              </a:defRPr>
            </a:pPr>
            <a:r>
              <a:rPr dirty="0"/>
              <a:t>• Helps establish connections and coordinate network activity.</a:t>
            </a:r>
          </a:p>
          <a:p>
            <a:pPr>
              <a:lnSpc>
                <a:spcPct val="150000"/>
              </a:lnSpc>
              <a:spcAft>
                <a:spcPts val="900"/>
              </a:spcAft>
              <a:defRPr sz="1700" b="0">
                <a:solidFill>
                  <a:srgbClr val="233044"/>
                </a:solidFill>
                <a:latin typeface="Aptos"/>
              </a:defRPr>
            </a:pPr>
            <a:r>
              <a:rPr dirty="0"/>
              <a:t>• Supports paging, mobility, and reliable service delivery.</a:t>
            </a:r>
          </a:p>
          <a:p>
            <a:pPr>
              <a:lnSpc>
                <a:spcPct val="150000"/>
              </a:lnSpc>
              <a:spcAft>
                <a:spcPts val="900"/>
              </a:spcAft>
              <a:defRPr sz="1700" b="1">
                <a:solidFill>
                  <a:srgbClr val="2369BE"/>
                </a:solidFill>
                <a:latin typeface="Aptos"/>
              </a:defRPr>
            </a:pPr>
            <a:r>
              <a:rPr dirty="0"/>
              <a:t>Applications</a:t>
            </a:r>
          </a:p>
          <a:p>
            <a:pPr>
              <a:lnSpc>
                <a:spcPct val="150000"/>
              </a:lnSpc>
              <a:spcAft>
                <a:spcPts val="900"/>
              </a:spcAft>
              <a:defRPr sz="1700" b="0">
                <a:solidFill>
                  <a:srgbClr val="233044"/>
                </a:solidFill>
                <a:latin typeface="Aptos"/>
              </a:defRPr>
            </a:pPr>
            <a:r>
              <a:rPr dirty="0"/>
              <a:t>• Voice calls, SMS, mobile internet, emergency services, and network registration.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510528"/>
            <a:ext cx="9601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6B82"/>
                </a:solidFill>
                <a:latin typeface="Aptos"/>
              </a:defRPr>
            </a:pPr>
            <a:r>
              <a:t>ACCESS CHANNELS IN MOBILE COMMUNICATION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8B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6473952"/>
            <a:ext cx="11155680" cy="13716"/>
          </a:xfrm>
          <a:prstGeom prst="rect">
            <a:avLst/>
          </a:prstGeom>
          <a:solidFill>
            <a:srgbClr val="D3DE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0927080" y="384048"/>
            <a:ext cx="685800" cy="384048"/>
          </a:xfrm>
          <a:prstGeom prst="roundRect">
            <a:avLst/>
          </a:prstGeom>
          <a:solidFill>
            <a:srgbClr val="23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02920"/>
            <a:ext cx="99669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E2042"/>
                </a:solidFill>
                <a:latin typeface="Aptos Display"/>
              </a:defRPr>
            </a:pPr>
            <a:r>
              <a:t>Conclusion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371600"/>
            <a:ext cx="914400" cy="50292"/>
          </a:xfrm>
          <a:prstGeom prst="rect">
            <a:avLst/>
          </a:prstGeom>
          <a:solidFill>
            <a:srgbClr val="38B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85800" y="1691640"/>
            <a:ext cx="1083564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1560" y="1965960"/>
            <a:ext cx="10058400" cy="2961067"/>
          </a:xfrm>
          <a:prstGeom prst="rect">
            <a:avLst/>
          </a:prstGeom>
          <a:noFill/>
        </p:spPr>
        <p:txBody>
          <a:bodyPr wrap="square" lIns="73152" tIns="73152" rIns="73152">
            <a:spAutoFit/>
          </a:bodyPr>
          <a:lstStyle/>
          <a:p>
            <a:pPr marL="342900" indent="-342900">
              <a:lnSpc>
                <a:spcPct val="150000"/>
              </a:lnSpc>
              <a:spcAft>
                <a:spcPts val="1500"/>
              </a:spcAft>
              <a:buFont typeface="Arial" panose="020B0604020202020204" pitchFamily="34" charset="0"/>
              <a:buChar char="•"/>
              <a:defRPr sz="2000" b="0">
                <a:solidFill>
                  <a:srgbClr val="233044"/>
                </a:solidFill>
                <a:latin typeface="Aptos"/>
              </a:defRPr>
            </a:pPr>
            <a:r>
              <a:rPr dirty="0"/>
              <a:t>Access channels are essential for connecting mobile devices to cellular networks.</a:t>
            </a:r>
          </a:p>
          <a:p>
            <a:pPr marL="342900" indent="-342900">
              <a:lnSpc>
                <a:spcPct val="150000"/>
              </a:lnSpc>
              <a:spcAft>
                <a:spcPts val="1500"/>
              </a:spcAft>
              <a:buFont typeface="Arial" panose="020B0604020202020204" pitchFamily="34" charset="0"/>
              <a:buChar char="•"/>
              <a:defRPr sz="2000" b="0">
                <a:solidFill>
                  <a:srgbClr val="233044"/>
                </a:solidFill>
                <a:latin typeface="Aptos"/>
              </a:defRPr>
            </a:pPr>
            <a:r>
              <a:rPr dirty="0"/>
              <a:t>Different channels perform specific functions such as access, paging, broadcasting, and control.</a:t>
            </a:r>
          </a:p>
          <a:p>
            <a:pPr marL="342900" indent="-342900">
              <a:lnSpc>
                <a:spcPct val="150000"/>
              </a:lnSpc>
              <a:spcAft>
                <a:spcPts val="1500"/>
              </a:spcAft>
              <a:buFont typeface="Arial" panose="020B0604020202020204" pitchFamily="34" charset="0"/>
              <a:buChar char="•"/>
              <a:defRPr sz="2000" b="0">
                <a:solidFill>
                  <a:srgbClr val="233044"/>
                </a:solidFill>
                <a:latin typeface="Aptos"/>
              </a:defRPr>
            </a:pPr>
            <a:r>
              <a:rPr dirty="0"/>
              <a:t>Coordinated channel operation supports efficient use of radio resources.</a:t>
            </a:r>
          </a:p>
          <a:p>
            <a:pPr marL="342900" indent="-342900">
              <a:lnSpc>
                <a:spcPct val="150000"/>
              </a:lnSpc>
              <a:spcAft>
                <a:spcPts val="1500"/>
              </a:spcAft>
              <a:buFont typeface="Arial" panose="020B0604020202020204" pitchFamily="34" charset="0"/>
              <a:buChar char="•"/>
              <a:defRPr sz="2000" b="0">
                <a:solidFill>
                  <a:srgbClr val="233044"/>
                </a:solidFill>
                <a:latin typeface="Aptos"/>
              </a:defRPr>
            </a:pPr>
            <a:r>
              <a:rPr dirty="0"/>
              <a:t>Effective access-channel management improves connectivity and network reliability.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510528"/>
            <a:ext cx="9601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6B82"/>
                </a:solidFill>
                <a:latin typeface="Aptos"/>
              </a:defRPr>
            </a:pPr>
            <a:r>
              <a:t>ACCESS CHANNELS IN MOBILE COMMUNICATION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607</Words>
  <Application>Microsoft Office PowerPoint</Application>
  <PresentationFormat>Widescreen</PresentationFormat>
  <Paragraphs>76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s.rajeswarireddy</dc:creator>
  <cp:keywords/>
  <dc:description>generated using python-pptx</dc:description>
  <cp:lastModifiedBy>saddarajeswari81204@gmail.com</cp:lastModifiedBy>
  <cp:revision>2</cp:revision>
  <dcterms:created xsi:type="dcterms:W3CDTF">2013-01-27T09:14:16Z</dcterms:created>
  <dcterms:modified xsi:type="dcterms:W3CDTF">2026-10-14T14:24:37Z</dcterms:modified>
  <cp:category/>
</cp:coreProperties>
</file>